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SESSION 2: ADVANCED PATTERNS &amp;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Orchestrating Multiple Prompt Patterns for Complex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90 minutes (15 min presentation + 60 min hands-on + 15 min review)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Individual Patterns to Orchestrated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Session 1 Recap:</a:t>
            </a:r>
          </a:p>
          <a:p>
            <a:pPr lvl="1"/>
            <a:r>
              <a:t>Foundational patterns: Few-shot, Chain-of-Thought, Persona, Template</a:t>
            </a:r>
          </a:p>
          <a:p>
            <a:pPr lvl="1"/>
            <a:r>
              <a:t>Configuration standards: .cursorrules, Copilot instructions</a:t>
            </a:r>
          </a:p>
          <a:p>
            <a:pPr lvl="1"/>
            <a:r>
              <a:t>Decision documentation: ADRs vs structured prompts</a:t>
            </a:r>
          </a:p>
          <a:p/>
          <a:p>
            <a:pPr>
              <a:defRPr b="1"/>
            </a:pPr>
            <a:r>
              <a:t>Today's Goal:</a:t>
            </a:r>
          </a:p>
          <a:p>
            <a:pPr lvl="1"/>
            <a:r>
              <a:t>Learn advanced patterns: ReAct, Tree of Thoughts, Meta-prompting</a:t>
            </a:r>
          </a:p>
          <a:p>
            <a:pPr lvl="1"/>
            <a:r>
              <a:t>Orchestrate multiple patterns for complex tasks</a:t>
            </a:r>
          </a:p>
          <a:p>
            <a:pPr lvl="1"/>
            <a:r>
              <a:t>Compare workflow strategies at scale</a:t>
            </a:r>
          </a:p>
          <a:p>
            <a:pPr lvl="1"/>
            <a:r>
              <a:t>Execute complete end-to-end migration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Prompt Patterns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ReAct Pattern (Reason + Act) - Yao et al. 2022</a:t>
            </a:r>
          </a:p>
          <a:p>
            <a:pPr lvl="1">
              <a:defRPr i="1"/>
            </a:pPr>
            <a:r>
              <a:t>Think → Act → Observe → Think → Act → Observe...</a:t>
            </a:r>
          </a:p>
          <a:p>
            <a:pPr lvl="1"/>
            <a:r>
              <a:t>For multi-step tasks requiring validation at each stage</a:t>
            </a:r>
          </a:p>
          <a:p/>
          <a:p>
            <a:pPr>
              <a:defRPr b="1"/>
            </a:pPr>
            <a:r>
              <a:t>Tree of Thoughts Pattern - Yao et al. 2023</a:t>
            </a:r>
          </a:p>
          <a:p>
            <a:pPr lvl="1">
              <a:defRPr i="1"/>
            </a:pPr>
            <a:r>
              <a:t>Generate multiple solution branches → Evaluate → Choose best</a:t>
            </a:r>
          </a:p>
          <a:p>
            <a:pPr lvl="1"/>
            <a:r>
              <a:t>For decisions with tradeoffs, maps to ADR 'Alternatives Considered'</a:t>
            </a:r>
          </a:p>
          <a:p/>
          <a:p>
            <a:pPr>
              <a:defRPr b="1"/>
            </a:pPr>
            <a:r>
              <a:t>Meta-prompting Pattern (Emerging)</a:t>
            </a:r>
          </a:p>
          <a:p>
            <a:pPr lvl="1">
              <a:defRPr i="1"/>
            </a:pPr>
            <a:r>
              <a:t>Prompt generates prompts - create reusable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Orchestration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 A: ADR-Driven (Industry Standard)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Write ADR → Reference in .cursorrules → Use AI → Validate</a:t>
            </a:r>
          </a:p>
          <a:p>
            <a:pPr lvl="1"/>
            <a:r>
              <a:t>Proven, lightweight, widely understood</a:t>
            </a:r>
          </a:p>
          <a:p/>
          <a:p>
            <a:r>
              <a:t>Strategy B: Structured File Workflow (Today's Example)</a:t>
            </a:r>
          </a:p>
          <a:p>
            <a:pPr lvl="1"/>
            <a:r>
              <a:t>System prompt → Task spec → Execution plan → Decisions → Generate</a:t>
            </a:r>
          </a:p>
          <a:p>
            <a:pPr lvl="1"/>
            <a:r>
              <a:t>Explicit pattern application, good for learning</a:t>
            </a:r>
          </a:p>
          <a:p/>
          <a:p>
            <a:r>
              <a:t>Strategy C: Tool-Assisted (Platform-Specific)</a:t>
            </a:r>
          </a:p>
          <a:p>
            <a:pPr lvl="1"/>
            <a:r>
              <a:t>Spec-Kit, GitHub Copilot Workspace, Cursor Composer</a:t>
            </a:r>
          </a:p>
          <a:p>
            <a:pPr lvl="1"/>
            <a:r>
              <a:t>Built-in guardrails, varying maturity levels</a:t>
            </a:r>
          </a:p>
          <a:p/>
          <a:p>
            <a:pPr>
              <a:defRPr b="1" sz="2000"/>
            </a:pPr>
            <a:r>
              <a:t>All strategies apply same underlying patterns!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Pattern: Iterative Validated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0000"/>
                </a:solidFill>
              </a:defRPr>
            </a:pPr>
            <a:r>
              <a:t>Without ReAct: "I'll migrate everything at once"</a:t>
            </a:r>
          </a:p>
          <a:p>
            <a:pPr lvl="1">
              <a:defRPr>
                <a:solidFill>
                  <a:srgbClr val="FF0000"/>
                </a:solidFill>
              </a:defRPr>
            </a:pPr>
            <a:r>
              <a:t>Something breaks, unclear which change caused it</a:t>
            </a:r>
          </a:p>
          <a:p/>
          <a:p>
            <a:pPr>
              <a:defRPr b="1">
                <a:solidFill>
                  <a:srgbClr val="008000"/>
                </a:solidFill>
              </a:defRPr>
            </a:pPr>
            <a:r>
              <a:t>With ReAct: Iterative, Validated Steps</a:t>
            </a:r>
          </a:p>
          <a:p>
            <a:pPr lvl="1"/>
            <a:r>
              <a:t>THINK: What dependencies must be satisfied first?</a:t>
            </a:r>
          </a:p>
          <a:p>
            <a:pPr lvl="1"/>
            <a:r>
              <a:t>ACT: Replace javax.* with jakarta.* imports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OBSERVE: mvn compile → SUCCESS ✓</a:t>
            </a:r>
          </a:p>
          <a:p>
            <a:pPr lvl="1"/>
            <a:r>
              <a:t>THINK: Now annotations can be safely updated...</a:t>
            </a:r>
          </a:p>
          <a:p/>
          <a:p>
            <a:pPr>
              <a:defRPr b="1"/>
            </a:pPr>
            <a:r>
              <a:t>Benefits: Logical ordering, early error detection, clear rollback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of Thoughts: Exploring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to Use Tree of Thoughts:</a:t>
            </a:r>
          </a:p>
          <a:p>
            <a:pPr lvl="1"/>
            <a:r>
              <a:t>Multiple valid approaches exist</a:t>
            </a:r>
          </a:p>
          <a:p>
            <a:pPr lvl="1"/>
            <a:r>
              <a:t>Tradeoffs matter for your specific context</a:t>
            </a:r>
          </a:p>
          <a:p>
            <a:pPr lvl="1"/>
            <a:r>
              <a:t>Team needs to understand decision rationale</a:t>
            </a:r>
          </a:p>
          <a:p/>
          <a:p>
            <a:pPr>
              <a:defRPr b="1"/>
            </a:pPr>
            <a:r>
              <a:t>Example: Exception Handling Strategy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Branch A: Keep current (minimal changes, low risk) ✓</a:t>
            </a:r>
          </a:p>
          <a:p>
            <a:pPr lvl="1"/>
            <a:r>
              <a:t>Branch B: Adopt ProblemDetail (modern, more testing)</a:t>
            </a:r>
          </a:p>
          <a:p>
            <a:pPr lvl="1"/>
            <a:r>
              <a:t>Branch C: Full RFC 7807 (over-engineered for scope)</a:t>
            </a:r>
          </a:p>
          <a:p>
            <a:pPr lvl="1"/>
            <a:r>
              <a:t>Branch D: Simple strings (too basic)</a:t>
            </a:r>
          </a:p>
          <a:p/>
          <a:p>
            <a:pPr>
              <a:defRPr b="1" sz="1800"/>
            </a:pPr>
            <a:r>
              <a:t>Maps to ADR 'Alternatives Considered'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