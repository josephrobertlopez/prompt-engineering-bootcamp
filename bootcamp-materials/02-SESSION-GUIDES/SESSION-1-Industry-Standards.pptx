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SESSION 1: PROMPT ENGINEERING INDUSTRY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From Ad-Hoc AI Prompting to Structured, Reusable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90 minutes (15 min presentation + 60 min hands-on + 15 min review)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Ad-Hoc AI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0000"/>
                </a:solidFill>
              </a:defRPr>
            </a:pPr>
            <a:r>
              <a:t>Current State: "Hey AI, migrate this controller to Spring Boot 3"</a:t>
            </a:r>
          </a:p>
          <a:p/>
          <a:p>
            <a:pPr>
              <a:defRPr b="1"/>
            </a:pPr>
            <a:r>
              <a:t>Problems with Ad-Hoc Approach:</a:t>
            </a:r>
          </a:p>
          <a:p>
            <a:pPr lvl="1"/>
            <a:r>
              <a:t>Every prompt starts from scratch</a:t>
            </a:r>
          </a:p>
          <a:p>
            <a:pPr lvl="1"/>
            <a:r>
              <a:t>No shared team knowledge in prompts</a:t>
            </a:r>
          </a:p>
          <a:p>
            <a:pPr lvl="1"/>
            <a:r>
              <a:t>Inconsistent results across files</a:t>
            </a:r>
          </a:p>
          <a:p>
            <a:pPr lvl="1"/>
            <a:r>
              <a:t>Can't track what worked vs what didn't</a:t>
            </a:r>
          </a:p>
          <a:p>
            <a:pPr lvl="1"/>
            <a:r>
              <a:t>Becomes 'vibe coding' (unreviewed AI output)</a:t>
            </a:r>
          </a:p>
          <a:p/>
          <a:p>
            <a:pPr>
              <a:defRPr b="1">
                <a:solidFill>
                  <a:srgbClr val="008000"/>
                </a:solidFill>
              </a:defRPr>
            </a:pPr>
            <a:r>
              <a:t>Solution: Structured, versioned, reusable prompt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Standards: The Three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Tier 1: Proven Patterns (10+ years)</a:t>
            </a:r>
          </a:p>
          <a:p>
            <a:pPr lvl="1">
              <a:defRPr sz="1800"/>
            </a:pPr>
            <a:r>
              <a:t>Few-shot, Chain-of-Thought, Persona, Template patterns</a:t>
            </a:r>
          </a:p>
          <a:p>
            <a:pPr lvl="1">
              <a:defRPr sz="1800"/>
            </a:pPr>
            <a:r>
              <a:t>ADRs (Architecture Decision Records), RFC Process</a:t>
            </a:r>
          </a:p>
          <a:p/>
          <a:p>
            <a:r>
              <a:t>Tier 2: Emerging Standards (1-3 years)</a:t>
            </a:r>
          </a:p>
          <a:p>
            <a:pPr lvl="1">
              <a:defRPr sz="1800"/>
            </a:pPr>
            <a:r>
              <a:t>.cursorrules, .github/copilot-instructions.md</a:t>
            </a:r>
          </a:p>
          <a:p>
            <a:pPr lvl="1">
              <a:defRPr sz="1800"/>
            </a:pPr>
            <a:r>
              <a:t>3,000+ forks of awesome-cursorrules repository</a:t>
            </a:r>
          </a:p>
          <a:p/>
          <a:p>
            <a:r>
              <a:t>Tier 3: Experimental (months to 1-2 years)</a:t>
            </a:r>
          </a:p>
          <a:p>
            <a:pPr lvl="1">
              <a:defRPr sz="1800"/>
            </a:pPr>
            <a:r>
              <a:t>GitHub Spec-Kit (Sept 2024, ~14 months old as of Nov 2025)</a:t>
            </a:r>
          </a:p>
          <a:p>
            <a:pPr lvl="1">
              <a:defRPr sz="1800"/>
            </a:pPr>
            <a:r>
              <a:t>Interesting experiments, growing understanding, not yet proven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Standards: .cursorrules &amp; Copilot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Natural language files telling AI tools how to work with your project</a:t>
            </a:r>
          </a:p>
          <a:p/>
          <a:p>
            <a:pPr>
              <a:defRPr b="1"/>
            </a:pPr>
            <a:r>
              <a:t>.cursorrules Example:</a:t>
            </a:r>
          </a:p>
          <a:p>
            <a:pPr lvl="1"/>
            <a:r>
              <a:t>Tech Stack: Spring Boot 3.2+, Java 17+, Jakarta EE</a:t>
            </a:r>
          </a:p>
          <a:p>
            <a:pPr lvl="1"/>
            <a:r>
              <a:t>Standards: DRY, KISS, YAGNI, constructor injection</a:t>
            </a:r>
          </a:p>
          <a:p>
            <a:pPr lvl="1"/>
            <a:r>
              <a:t>DO NOT: Use deprecated javax.* packages</a:t>
            </a:r>
          </a:p>
          <a:p/>
          <a:p>
            <a:pPr>
              <a:defRPr b="1"/>
            </a:pPr>
            <a:r>
              <a:t>Key Benefits: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Team-shared knowledge (version controlled)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Consistent AI behavior across developers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Reusable across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Documentation: ADRs vs Structured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Option A: Architecture Decision Records (Industry Standard)</a:t>
            </a:r>
          </a:p>
          <a:p>
            <a:pPr lvl="1"/>
            <a:r>
              <a:t>Proven since 2011, used by Microsoft, AWS, Google, Spotify</a:t>
            </a:r>
          </a:p>
          <a:p>
            <a:pPr lvl="1"/>
            <a:r>
              <a:t>Format: docs/adr/0001-use-jakarta.md</a:t>
            </a:r>
          </a:p>
          <a:p>
            <a:pPr lvl="1"/>
            <a:r>
              <a:t>Documents WHY decisions were made</a:t>
            </a:r>
          </a:p>
          <a:p/>
          <a:p>
            <a:r>
              <a:t>Option B: Structured Prompt Files (Experimental Pattern)</a:t>
            </a:r>
          </a:p>
          <a:p>
            <a:pPr lvl="1"/>
            <a:r>
              <a:t>AI-friendly format with rules and success criteria</a:t>
            </a:r>
          </a:p>
          <a:p>
            <a:pPr lvl="1"/>
            <a:r>
              <a:t>Focuses on HOW for AI generation</a:t>
            </a:r>
          </a:p>
          <a:p/>
          <a:p>
            <a:pPr>
              <a:defRPr b="1" sz="2200">
                <a:solidFill>
                  <a:srgbClr val="008000"/>
                </a:solidFill>
              </a:defRPr>
            </a:pPr>
            <a:r>
              <a:t>Both Are Valid! Can use BOTH together</a:t>
            </a:r>
          </a:p>
          <a:p>
            <a:pPr lvl="1"/>
            <a:r>
              <a:t>ADRs document decisions, structured prompts guide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Standards: One Practical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Today's Hands-On: 5-File Workflow Pattern</a:t>
            </a:r>
          </a:p>
          <a:p/>
          <a:p>
            <a:pPr lvl="1"/>
            <a:r>
              <a:t>File 1: System Prompt (maps to: .cursorrules, persona pattern)</a:t>
            </a:r>
          </a:p>
          <a:p>
            <a:pPr lvl="1"/>
            <a:r>
              <a:t>File 2: Task Specification (maps to: template pattern)</a:t>
            </a:r>
          </a:p>
          <a:p>
            <a:pPr lvl="1"/>
            <a:r>
              <a:t>File 3: Execution Plan (maps to: task decomposition, ReAct)</a:t>
            </a:r>
          </a:p>
          <a:p>
            <a:pPr lvl="1"/>
            <a:r>
              <a:t>File 4: Decision Documentation (maps to: ADR, alternatives)</a:t>
            </a:r>
          </a:p>
          <a:p>
            <a:pPr lvl="1"/>
            <a:r>
              <a:t>File 5: Code Generation (maps to: few-shot + chain-of-thought)</a:t>
            </a:r>
          </a:p>
          <a:p/>
          <a:p>
            <a:pPr>
              <a:defRPr b="1" sz="2000"/>
            </a:pPr>
            <a:r>
              <a:t>Key Insight: This is ONE way to structure prompts</a:t>
            </a:r>
          </a:p>
          <a:p>
            <a:pPr lvl="1">
              <a:defRPr sz="1800"/>
            </a:pPr>
            <a:r>
              <a:t>ADRs alone, Spec-Kit, or custom patterns are equally valid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